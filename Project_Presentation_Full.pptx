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F8F5F"/>
                </a:solidFill>
                <a:latin typeface="Calibri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A938E"/>
                </a:solidFill>
                <a:latin typeface="Calibri"/>
              </a:rPr>
              <a:t>VERDIS  ·  v0.9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77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E59"/>
                </a:solidFill>
                <a:latin typeface="Calibri"/>
              </a:rPr>
              <a:t>Agri-AI · Final-year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8F5F"/>
                </a:solidFill>
                <a:latin typeface="Calibri"/>
              </a:rPr>
              <a:t>FINAL-YEAR COMPUTER VISION PROJECT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5F5F0"/>
                </a:solidFill>
                <a:latin typeface="Calibri"/>
              </a:rPr>
              <a:t>Smartphone-Based Crop Disease
Detection and 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A938E"/>
                </a:solidFill>
                <a:latin typeface="Calibri"/>
              </a:rPr>
              <a:t>A computer vision case study in real-world domain adaptation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REAL-WORLD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onsolas"/>
              </a:rPr>
              <a:t>75.40%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PlantDoc test · with TTA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DISEASE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14 plant species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TRAINING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35838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41,039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7424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PlantVillage + PlantDoc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9377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510235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535838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ResNet50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574243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vs EfficientNet-B0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Crop disease costs the world a fifth of every harvest.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0B981"/>
                </a:solidFill>
                <a:latin typeface="Consolas"/>
              </a:rPr>
              <a:t>20–40%  </a:t>
            </a:r>
            <a:r>
              <a:rPr sz="1500" b="0" i="0">
                <a:solidFill>
                  <a:srgbClr val="F5F5F0"/>
                </a:solidFill>
                <a:latin typeface="Calibri"/>
              </a:rPr>
              <a:t>of annual crop yields are lost to pests and disease (FAO).
</a:t>
            </a:r>
            <a:r>
              <a:rPr sz="1400" b="0" i="0">
                <a:solidFill>
                  <a:srgbClr val="F5F5F0"/>
                </a:solidFill>
                <a:latin typeface="Calibri"/>
              </a:rPr>
              <a:t>Early detection is everything — but the people who can diagnose disease from a leaf (plant pathologists) are concentrated in research labs, not on small farms.
</a:t>
            </a:r>
            <a:r>
              <a:rPr sz="1400" b="0" i="0">
                <a:solidFill>
                  <a:srgbClr val="F5F5F0"/>
                </a:solidFill>
                <a:latin typeface="Calibri"/>
              </a:rPr>
              <a:t>Smartphones, however, are everywhere. A farmer in any country can take a photo. The question is whether a model can do what an expert does — identify the disease from a single image.
</a:t>
            </a:r>
            <a:r>
              <a:rPr sz="1400" b="0" i="0">
                <a:solidFill>
                  <a:srgbClr val="8A938E"/>
                </a:solidFill>
                <a:latin typeface="Calibri"/>
              </a:rPr>
              <a:t>This is fundamentally a computer-vision problem: </a:t>
            </a:r>
            <a:r>
              <a:rPr sz="1400" b="0" i="1">
                <a:solidFill>
                  <a:srgbClr val="F5F5F0"/>
                </a:solidFill>
                <a:latin typeface="Calibri"/>
              </a:rPr>
              <a:t>the diagnostic signal is visual</a:t>
            </a:r>
            <a:r>
              <a:rPr sz="1400" b="0" i="0">
                <a:solidFill>
                  <a:srgbClr val="8A938E"/>
                </a:solidFill>
                <a:latin typeface="Calibri"/>
              </a:rPr>
              <a:t> (lesions, discoloration, spots, mosaics, wilting).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07568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GLOBAL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317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onsolas"/>
              </a:rPr>
              <a:t>20–40%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6974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crop yield lost to disease each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33756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34930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AGRICULTURAL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49039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onsolas"/>
              </a:rPr>
              <a:t>&lt; 1 expert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114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per 10,000 farmers in many 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754880"/>
            <a:ext cx="4297680" cy="1234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91032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TECHNOLOGY 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1663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4F8F5F"/>
                </a:solidFill>
                <a:latin typeface="Consolas"/>
              </a:rPr>
              <a:t>6.8 billion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5321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smartphone users worldwide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02  ·  THE CV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A model that wins the benchmark can still fail in the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ON THE LAB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0B981"/>
                </a:solidFill>
                <a:latin typeface="Consolas"/>
              </a:rPr>
              <a:t>~100%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Accuracy on PlantVillage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Clean lab photos with controlled background and lighting.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ON REAL FIELD PHOTOS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EF4444"/>
                </a:solidFill>
                <a:latin typeface="Consolas"/>
              </a:rPr>
              <a:t>~30%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Same model on PlantDoc test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Variable lighting, dirt, occlusion, multiple leaves per frame.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5F5F0"/>
                </a:solidFill>
                <a:latin typeface="Calibri"/>
              </a:rPr>
              <a:t>Domain shift.  </a:t>
            </a:r>
            <a:r>
              <a:rPr sz="1350" b="0" i="0">
                <a:solidFill>
                  <a:srgbClr val="F5F5F0"/>
                </a:solidFill>
                <a:latin typeface="Calibri"/>
              </a:rPr>
              <a:t>The training distribution is not the deployment distribution. Bridging this gap — making the model robust to messy real-world inputs — </a:t>
            </a:r>
            <a:r>
              <a:rPr sz="1350" b="1" i="0">
                <a:solidFill>
                  <a:srgbClr val="4F8F5F"/>
                </a:solidFill>
                <a:latin typeface="Calibri"/>
              </a:rPr>
              <a:t>is the entire project.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02B  ·  DOMAIN SHIFT,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Same disease label. Two completely different worlds.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33832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omain_sh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598" y="1874519"/>
            <a:ext cx="6194322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589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THE TECHNICAL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875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Domain shift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 — a CNN that masters the left distribution can score near-zero on the right one. </a:t>
            </a:r>
            <a:r>
              <a:rPr sz="1200" b="0" i="1">
                <a:solidFill>
                  <a:srgbClr val="4F8F5F"/>
                </a:solidFill>
                <a:latin typeface="Calibri"/>
              </a:rPr>
              <a:t>Everything in the next 15 slides is about bridging this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03  · 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Two datasets — one easy benchmark, one honest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PlantVillage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Mohanty et al., Penn State (2016)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54,000+ leaf images, lab conditions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Single leaf, uniform background, perfect lighting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Used in countless papers as a benchmark — but trivially easy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Excellent source of pretraining 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440680" cy="3657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164592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48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REAL-WORLD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PlantDoc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Singh et al., IIT-Hyderabad (2020)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2,500+ photos taken in actual fields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Variable lighting, dirt, multiple leaves, blur, occlusion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Small per-class sample counts (4–250 images each)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The honest evaluation set for real-world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onsolas"/>
              </a:rPr>
              <a:t>After alignment to 27 shared classes:   30,747  PV train     7,372  PV val     2,668  PD train     252  PD test     ·   41,039 images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04  · 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Why we don't train from scratch.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F5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ImageNet pretraining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ResNet50 has already been trained on 1.2M everyday images across 1,000 classes. Its early layers know what edges, textures, and shapes look like — knowledge that transfers to leaves.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Replace the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The final 1,000-class layer is removed and replaced with a fresh 27-class layer initialized randomly. Now the model can map its general visual features onto our specific disease taxonomy.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52044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F8F5F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603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Train on PlantVillage + PlantDoc with a small learning rate. The backbone refines its features for plant disease, the head learns the new mapping. Far less data needed than training from zero.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THE ALTERNATIVE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Training a CNN from scratch on 41k images alone would either overfit badly or fail to converge. Transfer learning is the only practical option at this scale.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05  ·  ARCHITECTURE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Two very different CNNs — which fits this problem better?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9728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5F0"/>
                </a:solidFill>
                <a:latin typeface="Calibri"/>
              </a:rPr>
              <a:t>ResNet50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He et al. — Microsoft (2015)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KEY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Residual / skip connections that solve the vanishing-gradient problem in deep nets — every block learns a residual on top of an identity mapping.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463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25.6 million parameters · 50 layers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Deep, hierarchical feature extractor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Widely used as a strong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1097280" cy="292608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4825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5F5F0"/>
                </a:solidFill>
                <a:latin typeface="Calibri"/>
              </a:rPr>
              <a:t>EfficientNet-B0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Tan &amp; Le — Google (2019)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KEY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Compound scaling: balance depth, width and resolution together using a single scaling coefficient. Built on MBConv blocks with squeeze-and-excitation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5.3 million parameters — 5× smaller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Designed for accuracy / FLOPS efficiency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Strong on ImageNet at much lower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06  · 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Train both on identical conditions. Let the data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A938E"/>
                </a:solidFill>
                <a:latin typeface="Calibri"/>
              </a:rPr>
              <a:t>Held constant across both runs: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4F8F5F"/>
                </a:solidFill>
                <a:latin typeface="Calibri"/>
              </a:rPr>
              <a:t>◆  </a:t>
            </a:r>
            <a:r>
              <a:rPr sz="1150">
                <a:solidFill>
                  <a:srgbClr val="F5F5F0"/>
                </a:solidFill>
                <a:latin typeface="Calibri"/>
              </a:rPr>
              <a:t>Dataset: PV + PD (no augmented)   ·   Loss: Focal γ=2 + class weights   ·   Augmentation: strong train · CutMix α=0.3   ·   Schedule: 30 ep · cosine LR · patience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1371600" cy="292608"/>
          </a:xfrm>
          <a:prstGeom prst="roundRect">
            <a:avLst>
              <a:gd name="adj" fmla="val 40000"/>
            </a:avLst>
          </a:prstGeom>
          <a:solidFill>
            <a:srgbClr val="3F6E47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626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F5F0"/>
                </a:solidFill>
                <a:latin typeface="Calibri"/>
              </a:rPr>
              <a:t>WINNER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ResNet50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0B981"/>
                </a:solidFill>
                <a:latin typeface="Consolas"/>
              </a:rPr>
              <a:t>58.33%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PlantDoc real-world test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4320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926080"/>
            <a:ext cx="1371600" cy="292608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6265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5F5F0"/>
                </a:solidFill>
                <a:latin typeface="Calibri"/>
              </a:rPr>
              <a:t>EfficientNet-B0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59E0B"/>
                </a:solidFill>
                <a:latin typeface="Consolas"/>
              </a:rPr>
              <a:t>57.14%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PlantDoc real-world test accuracy (with TTA)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589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HONEST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875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ResNet50 wins by ~1.2 points.  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On 252 test samples, that is roughly 3 images — within noise. Architecture matters less than expected at this scale; the limiting factor is the amount and diversity of real-world training data, not the network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07  ·  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Focus on ResNet50. Push it as far as it goes.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8E"/>
                </a:solidFill>
                <a:latin typeface="Calibri"/>
              </a:rPr>
              <a:t>Five additions, applied one at a time, each justified by a specific CV concept.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Augmented PlantDoc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5915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Bring in the additional 21k variants → joint_all.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07791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723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99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Stronger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7355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723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Train with realistic transforms (crop, blur, perspective, jitter).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21024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85615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12463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Focal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86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785615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Down-weight easy examples so training focuses on hard classes.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34256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2569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CutMix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00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4988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Patch-level regularization to prevent overfitting on small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47488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7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38927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Two-phase fine-tuning + TTA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132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521207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38E"/>
                </a:solidFill>
                <a:latin typeface="Calibri"/>
              </a:rPr>
              <a:t>Freeze→unfreeze schedule; 8-view averaging at inference.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08  ·  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Teach the disease — not the photo.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A938E"/>
                </a:solidFill>
                <a:latin typeface="Calibri"/>
              </a:rPr>
              <a:t>Augmentation creates synthetic training examples by transforming originals — forcing invariance to nuisance factors that have nothing to do with the actual disease.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11064240" cy="384048"/>
          </a:xfrm>
          <a:prstGeom prst="rect">
            <a:avLst/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697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WHAT IT BUYS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90088"/>
            <a:ext cx="11064240" cy="347472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RandomResizedCrop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63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scale 0.6–1.0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63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Scale and zoom invariance — leaf can fill any part of 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RandomHorizontalFlip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10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p=0.5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107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Mirror symmetry — left/right doesn't encode disease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85032"/>
            <a:ext cx="11064240" cy="347472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581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RandomVerticalFlip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581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p=0.2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581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Some upside-down field photos exist; rare but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056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RandomRotation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1056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±30°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056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Camera-tilt invariance — phones are held at any angle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79976"/>
            <a:ext cx="11064240" cy="347472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RandomPerspective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53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distortion 0.3 · p=0.4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531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3D viewing-angle invariance — leaf at oblique angle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00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ColorJitter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800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b/c/s 0.3 · hue 0.08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800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Lighting and white-balance invariance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11064240" cy="347472"/>
          </a:xfrm>
          <a:prstGeom prst="rect">
            <a:avLst/>
          </a:prstGeom>
          <a:solidFill>
            <a:srgbClr val="131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48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RandomGrayscale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48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p=0.05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1480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Avoid over-reliance on color — texture also carries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95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F5F0"/>
                </a:solidFill>
                <a:latin typeface="Consolas"/>
              </a:rPr>
              <a:t>GaussianBlur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4955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F8F5F"/>
                </a:solidFill>
                <a:latin typeface="Consolas"/>
              </a:rPr>
              <a:t>kernel 3 · σ 0.1–2.0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4955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38E"/>
                </a:solidFill>
                <a:latin typeface="Calibri"/>
              </a:rPr>
              <a:t>Motion-blur and out-of-focus invariance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08B  ·  AUGMENTATION,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One leaf becomes six.  Six become hundreds.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8046720" cy="443484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gmentation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920239"/>
            <a:ext cx="585216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78308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WHAT THIS BUYS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286000"/>
            <a:ext cx="2468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5F5F0"/>
                </a:solidFill>
                <a:latin typeface="Calibri"/>
              </a:rPr>
              <a:t>Each training step sees a new variant.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The model never memorizes a specific photograph — it learns the disease.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Effective dataset size grows from 41k to effectively unlimited.
</a:t>
            </a:r>
            <a:r>
              <a:rPr sz="1150" b="1" i="0">
                <a:solidFill>
                  <a:srgbClr val="4F8F5F"/>
                </a:solidFill>
                <a:latin typeface="Calibri"/>
              </a:rPr>
              <a:t>Cost: zero new images.
Benefit: real robustness.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09  ·  AUGMENTED PLANTDOC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The single biggest accuracy jump came from more data, not better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EFFECT OF ADDING AUGMENTED 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5F0"/>
                </a:solidFill>
                <a:latin typeface="Consolas"/>
              </a:rPr>
              <a:t>joint  →  joint_all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  <a:latin typeface="Consolas"/>
              </a:rPr>
              <a:t>58.33%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46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8A938E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B981"/>
                </a:solidFill>
                <a:latin typeface="Consolas"/>
              </a:rPr>
              <a:t>73.41%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PD test accuracy on real-world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5120640" cy="36576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onsolas"/>
              </a:rPr>
              <a:t>+15 percentage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alibri"/>
              </a:rPr>
              <a:t>From a single change: adding more diverse training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202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THE CV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5F0"/>
                </a:solidFill>
                <a:latin typeface="Calibri"/>
              </a:rPr>
              <a:t>Data quality dominates.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The augmented PlantDoc set is roughly 21,000 synthetically-varied copies of the real PD images — each original passed through random crops, rotations, color shifts and blurs.
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It exposes the model to thousands of plausible "what the phone camera might see" variations of every leaf, especially the rare classes.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No clever loss function or learning-rate trick produced gains of this size. </a:t>
            </a:r>
            <a:r>
              <a:rPr sz="1200" b="1" i="0">
                <a:solidFill>
                  <a:srgbClr val="4F8F5F"/>
                </a:solidFill>
                <a:latin typeface="Calibri"/>
              </a:rPr>
              <a:t>The signal was already in the data we hadn't fully used.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10  ·  CLASS IMBALANCE &amp; FOCAL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Make the loss focus on what the model gets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5F0"/>
                </a:solidFill>
                <a:latin typeface="Calibri"/>
              </a:rPr>
              <a:t>Heavy class imbalance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Some classes (Tomato Yellow Curl, Tomato Healthy) have over 250 training images. Others (Corn Gray Leaf Spot) have fewer than 30.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Cross-entropy treats every error equally → a model can </a:t>
            </a:r>
            <a:r>
              <a:rPr sz="1200" b="0" i="1">
                <a:solidFill>
                  <a:srgbClr val="F5F5F0"/>
                </a:solidFill>
                <a:latin typeface="Calibri"/>
              </a:rPr>
              <a:t>reach high overall accuracy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by being correct on the easy, well-represented classes and silently failing on rare ones.
</a:t>
            </a:r>
            <a:r>
              <a:rPr sz="1200" b="1" i="0">
                <a:solidFill>
                  <a:srgbClr val="F5F5F0"/>
                </a:solidFill>
                <a:latin typeface="Calibri"/>
              </a:rPr>
              <a:t>Two interventions: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1.  Class weights — inverse frequency, applied inside the loss.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2.  Focal Loss — see right.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FOCAL LOSS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A938E"/>
                </a:solidFill>
                <a:latin typeface="Calibri"/>
              </a:rPr>
              <a:t>Lin et al. — RetinaNet (2017)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889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B981"/>
                </a:solidFill>
                <a:latin typeface="Consolas"/>
              </a:rPr>
              <a:t>FL(p) = −(1−p)ᵞ · log(p)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When the model is already confident (p close to 1), </a:t>
            </a:r>
            <a:r>
              <a:rPr sz="1200" b="0" i="0">
                <a:solidFill>
                  <a:srgbClr val="10B981"/>
                </a:solidFill>
                <a:latin typeface="Consolas"/>
              </a:rPr>
              <a:t>(1−p)ᵞ → 0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 and the loss vanishes — the model stops wasting capacity on easy examples.
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When the model is uncertain (p close to 0.2–0.5), </a:t>
            </a:r>
            <a:r>
              <a:rPr sz="1200" b="0" i="0">
                <a:solidFill>
                  <a:srgbClr val="F59E0B"/>
                </a:solidFill>
                <a:latin typeface="Consolas"/>
              </a:rPr>
              <a:t>(1−p)ᵞ stays large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 and the example dominates the gradient.
</a:t>
            </a:r>
            <a:r>
              <a:rPr sz="1200" b="1" i="0">
                <a:solidFill>
                  <a:srgbClr val="F5F5F0"/>
                </a:solidFill>
                <a:latin typeface="Calibri"/>
              </a:rPr>
              <a:t>We used γ = 2.0. 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Higher γ → more aggressive focus on hard cases.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11  ·  CUTMIX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Cut a patch from one leaf, paste it onto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8E"/>
                </a:solidFill>
                <a:latin typeface="Calibri"/>
              </a:rPr>
              <a:t>Mix the labels accordingly.  Force the model to look at the whole leaf.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943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8A938E"/>
                </a:solidFill>
                <a:latin typeface="Calibri"/>
              </a:rPr>
              <a:t>Yun et al. — Naver / Korea Univ. (2019)
</a:t>
            </a:r>
            <a:r>
              <a:rPr sz="1400" b="1" i="0">
                <a:solidFill>
                  <a:srgbClr val="F5F5F0"/>
                </a:solidFill>
                <a:latin typeface="Calibri"/>
              </a:rPr>
              <a:t>How it works: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Pick two training images A and B.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Cut a random rectangular patch from B and paste it over A.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Mix the target labels in proportion to the patch area:
</a:t>
            </a:r>
            <a:r>
              <a:rPr sz="1200" b="0" i="0">
                <a:solidFill>
                  <a:srgbClr val="10B981"/>
                </a:solidFill>
                <a:latin typeface="Consolas"/>
              </a:rPr>
              <a:t>       target  =  λ · yₐ  +  (1 − λ) · yᵦ
</a:t>
            </a:r>
            <a:r>
              <a:rPr sz="1400" b="1" i="0">
                <a:solidFill>
                  <a:srgbClr val="F5F5F0"/>
                </a:solidFill>
                <a:latin typeface="Calibri"/>
              </a:rPr>
              <a:t>Why this helps: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Prevents over-reliance on any single salient region — the model has to integrate evidence from the whole leaf.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Acts as a strong regularizer against overfitting — particularly useful with our small PlantDoc training set.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• Encourages localizable, calibrated predictions.
</a:t>
            </a:r>
            <a:r>
              <a:rPr sz="1250" b="0" i="0">
                <a:solidFill>
                  <a:srgbClr val="8A938E"/>
                </a:solidFill>
                <a:latin typeface="Calibri"/>
              </a:rPr>
              <a:t>Hyperparameter:  </a:t>
            </a:r>
            <a:r>
              <a:rPr sz="1250" b="1" i="0">
                <a:solidFill>
                  <a:srgbClr val="4F8F5F"/>
                </a:solidFill>
                <a:latin typeface="Consolas"/>
              </a:rPr>
              <a:t>α = 0.3</a:t>
            </a:r>
            <a:r>
              <a:rPr sz="1250" b="0" i="0">
                <a:solidFill>
                  <a:srgbClr val="8A938E"/>
                </a:solidFill>
                <a:latin typeface="Calibri"/>
              </a:rPr>
              <a:t>  (probability of CutMix per batch).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03120"/>
            <a:ext cx="4892040" cy="42976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2860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RELATED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514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5F0"/>
                </a:solidFill>
                <a:latin typeface="Calibri"/>
              </a:rPr>
              <a:t>CutMix vs MixUp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30632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MixUp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 (Zhang et al., 2018) blends the two images pixel-by-pixel:
</a:t>
            </a:r>
            <a:r>
              <a:rPr sz="1150" b="0" i="0">
                <a:solidFill>
                  <a:srgbClr val="F59E0B"/>
                </a:solidFill>
                <a:latin typeface="Consolas"/>
              </a:rPr>
              <a:t>     λ · A  +  (1−λ) · B
</a:t>
            </a:r>
            <a:r>
              <a:rPr sz="1300" b="1" i="0">
                <a:solidFill>
                  <a:srgbClr val="4F8F5F"/>
                </a:solidFill>
                <a:latin typeface="Calibri"/>
              </a:rPr>
              <a:t>CutMix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 preserves local pixel structure — patches stay sharp.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On natural images, CutMix usually beats MixUp because lesions retain their texture instead of being faded out by blending.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12  ·  TWO-PHASE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Don't destroy what ImageNet already learned.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645920" cy="292608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96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5F0"/>
                </a:solidFill>
                <a:latin typeface="Calibri"/>
              </a:rPr>
              <a:t>Train the head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onsolas"/>
              </a:rPr>
              <a:t>Epochs 1 – 10  ·  backbone frozen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The new classification head starts with random weights. If we let those large initial gradients propagate back through the full network, they would destroy the carefully-learned ImageNet features in seconds.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So we freeze every parameter except the head. Only the 27-class output layer is trained, until it learns to read the (still frozen) backbone's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1645920" cy="292608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3969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0B981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F5F0"/>
                </a:solidFill>
                <a:latin typeface="Calibri"/>
              </a:rPr>
              <a:t>Unfreeze and refine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onsolas"/>
              </a:rPr>
              <a:t>Epochs 11 – 30  ·  full network · LR × 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Now the head is calibrated. We unfreeze everything and drop the learning rate by 10× (final lr=1e-6, cosine schedule).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Tiny, careful updates to the entire network — the backbone slowly drifts from "ImageNet objects" toward "plant disease features", without forgetting what it knew.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26480"/>
            <a:ext cx="1106424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13  ·  TEST-TIME AUGMENTATION (TTA)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Predict on eight views of the same image. Average the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8521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5F5F0"/>
                </a:solidFill>
                <a:latin typeface="Calibri"/>
              </a:rPr>
              <a:t>TTA is augmentation applied at inference time instead of training time.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For one test image we produce 8 transformed versions — horizontal flip, vertical flip, slight rotation, scale crops — then run the model on each. The 8 softmax outputs are averaged.
</a:t>
            </a:r>
            <a:r>
              <a:rPr sz="1300" b="1" i="0">
                <a:solidFill>
                  <a:srgbClr val="F5F5F0"/>
                </a:solidFill>
                <a:latin typeface="Calibri"/>
              </a:rPr>
              <a:t>Why it works: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A single forward pass is one noisy measurement of the model's belief. Eight independent measurements over plausible variations of the same image average out the noise.
</a:t>
            </a:r>
            <a:r>
              <a:rPr sz="1250" b="0" i="0">
                <a:solidFill>
                  <a:srgbClr val="8A938E"/>
                </a:solidFill>
                <a:latin typeface="Calibri"/>
              </a:rPr>
              <a:t>It is a free 1–3% gain — no retraining, no extra data, just more inference compute.
</a:t>
            </a:r>
            <a:r>
              <a:rPr sz="1300" b="1" i="0">
                <a:solidFill>
                  <a:srgbClr val="F5F5F0"/>
                </a:solidFill>
                <a:latin typeface="Calibri"/>
              </a:rPr>
              <a:t>In our case:  </a:t>
            </a:r>
            <a:r>
              <a:rPr sz="1400" b="1" i="0">
                <a:solidFill>
                  <a:srgbClr val="10B981"/>
                </a:solidFill>
                <a:latin typeface="Consolas"/>
              </a:rPr>
              <a:t>73.41%  →  75.40%</a:t>
            </a:r>
            <a:r>
              <a:rPr sz="1300" b="0" i="0">
                <a:solidFill>
                  <a:srgbClr val="F5F5F0"/>
                </a:solidFill>
                <a:latin typeface="Calibri"/>
              </a:rPr>
              <a:t>   (+2 points).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74519"/>
            <a:ext cx="4937760" cy="4389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THE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onsolas"/>
              </a:rPr>
              <a:t>1.  Input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onsolas"/>
              </a:rPr>
              <a:t>2.  Apply 8 augmentations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154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onsolas"/>
              </a:rPr>
              <a:t>3.  Run model on each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566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onsolas"/>
              </a:rPr>
              <a:t>4.  Average the softmax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9776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5F5F0"/>
                </a:solidFill>
                <a:latin typeface="Consolas"/>
              </a:rPr>
              <a:t>5.  Return top-5 predictions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4526280"/>
            <a:ext cx="4572000" cy="18288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47091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983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F5F0"/>
                </a:solidFill>
                <a:latin typeface="Consolas"/>
              </a:rPr>
              <a:t>8× inference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5349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Still under 2 seconds per image on a CPU. Acceptable for non-real-time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14  ·  EXPLAINABILITY  ·  GRAD-CAM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A CNN that can't explain its prediction shouldn't make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8521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8A938E"/>
                </a:solidFill>
                <a:latin typeface="Calibri"/>
              </a:rPr>
              <a:t>Selvaraju et al. — Georgia Tech / FAIR (2017)
</a:t>
            </a:r>
            <a:r>
              <a:rPr sz="1400" b="1" i="0">
                <a:solidFill>
                  <a:srgbClr val="F5F5F0"/>
                </a:solidFill>
                <a:latin typeface="Calibri"/>
              </a:rPr>
              <a:t>How Grad-CAM works: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1.  Forward-pass the image and pick the predicted class y.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2.  Compute the gradient of y with respect to the feature maps Aᵏ of the final convolutional layer.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3.  Average the gradients spatially to get a channel weight αᵏ for each feature map.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4.  Sum  αᵏ · Aᵏ  across channels and apply ReLU → a coarse heatmap in feature-map resolution.
</a:t>
            </a:r>
            <a:r>
              <a:rPr sz="1250" b="0" i="0">
                <a:solidFill>
                  <a:srgbClr val="F5F5F0"/>
                </a:solidFill>
                <a:latin typeface="Calibri"/>
              </a:rPr>
              <a:t>5.  Upsample to image resolution and overlay.
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The bright regions are the pixels whose presence most increased the score of the predicted class.
</a:t>
            </a:r>
            <a:r>
              <a:rPr sz="1300" b="1" i="0">
                <a:solidFill>
                  <a:srgbClr val="F5F5F0"/>
                </a:solidFill>
                <a:latin typeface="Calibri"/>
              </a:rPr>
              <a:t>Why it matters:  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a model that calls "apple scab" should be looking at the dark scab lesions — not the soil in the background. The heatmap is our trust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74519"/>
            <a:ext cx="4937760" cy="438912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HEATMAP READING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468880"/>
            <a:ext cx="4434840" cy="365760"/>
          </a:xfrm>
          <a:prstGeom prst="roundRect">
            <a:avLst>
              <a:gd name="adj" fmla="val 40000"/>
            </a:avLst>
          </a:prstGeom>
          <a:solidFill>
            <a:srgbClr val="1A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468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555E59"/>
                </a:solidFill>
                <a:latin typeface="Calibri"/>
              </a:rPr>
              <a:t>cold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2468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88036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38E"/>
                </a:solidFill>
                <a:latin typeface="Calibri"/>
              </a:rPr>
              <a:t>irrelevant region   →   most influential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4434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10B981"/>
                </a:solidFill>
                <a:latin typeface="Calibri"/>
              </a:rPr>
              <a:t>Good sign: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Heatmap focuses on lesions, spots, or curled regions — the disease symptoms themselves.
</a:t>
            </a:r>
            <a:r>
              <a:rPr sz="1250" b="1" i="0">
                <a:solidFill>
                  <a:srgbClr val="EF4444"/>
                </a:solidFill>
                <a:latin typeface="Calibri"/>
              </a:rPr>
              <a:t>Warning sign: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Heatmap focuses on background, soil, or healthy leaf edges — the model may be learning a spurious shortcut.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14B  ·  GRAD-CAM, ON A REAL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The model focuses where the disease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33832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cam_exam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08" y="1874519"/>
            <a:ext cx="7742903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589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TRUST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8756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5F5F0"/>
                </a:solidFill>
                <a:latin typeface="Calibri"/>
              </a:rPr>
              <a:t>Test image: real grape leaf with Black Rot lesions.   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Model prediction: </a:t>
            </a:r>
            <a:r>
              <a:rPr sz="1200" b="1" i="0">
                <a:solidFill>
                  <a:srgbClr val="F5F5F0"/>
                </a:solidFill>
                <a:latin typeface="Calibri"/>
              </a:rPr>
              <a:t>Grape Black Rot 88.5% (correct).   </a:t>
            </a:r>
            <a:r>
              <a:rPr sz="1200" b="0" i="0">
                <a:solidFill>
                  <a:srgbClr val="F5F5F0"/>
                </a:solidFill>
                <a:latin typeface="Calibri"/>
              </a:rPr>
              <a:t>Heatmap concentrates exactly on the visible lesions — not the soil, not the leaf edge, not the wood frame in the background. The model is looking at the right 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15  ·  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ResNet50 · joint_all · with TTA  ·  PlantDoc test set (252 real images).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onsolas"/>
              </a:rPr>
              <a:t>75.40%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+ Test-time augmentation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F1 (MACRO)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0.746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Across all 27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49424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77.91%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163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Macro-averaged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9339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24942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F5F0"/>
                </a:solidFill>
                <a:latin typeface="Consolas"/>
              </a:rPr>
              <a:t>75.58%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8163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Calibri"/>
              </a:rPr>
              <a:t>Macro-averaged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630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STRONG CLASSES  (F1 ≥ 0.85)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5F0"/>
                </a:solidFill>
                <a:latin typeface="Consolas"/>
              </a:rPr>
              <a:t>11 of 27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Five classes at perfect 1.00 F1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   (Grape healthy/black-rot, Blueberry, Pepper bell, Strawberry)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Both Tomato Yellow Curl and Pepper Bacterial Spot ≥ 0.88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Healthy classes near-perfect — strong "no disease" signal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7472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WEAK CLASSES  (F1 &lt; 0.50)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5F5F0"/>
                </a:solidFill>
                <a:latin typeface="Consolas"/>
              </a:rPr>
              <a:t>4 of 27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Corn Gray Leaf Spot · 0.14 (only 4 test samples)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Potato Early Blight · 0.20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Potato Late Blight · 0.35</a:t>
            </a:r>
          </a:p>
          <a:p>
            <a:pPr algn="l">
              <a:lnSpc>
                <a:spcPct val="140000"/>
              </a:lnSpc>
            </a:pPr>
            <a:r>
              <a:rPr sz="1100">
                <a:solidFill>
                  <a:srgbClr val="4F8F5F"/>
                </a:solidFill>
                <a:latin typeface="Calibri"/>
              </a:rPr>
              <a:t>◆  </a:t>
            </a:r>
            <a:r>
              <a:rPr sz="1100">
                <a:solidFill>
                  <a:srgbClr val="F5F5F0"/>
                </a:solidFill>
                <a:latin typeface="Calibri"/>
              </a:rPr>
              <a:t>Visually similar diseases confound the classifier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16  ·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Where the errors fall reveals what the model actually understands.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67512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m_resnet50_plantdoc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64008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828800"/>
            <a:ext cx="42519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5F5F0"/>
                </a:solidFill>
                <a:latin typeface="Calibri"/>
              </a:rPr>
              <a:t>Confusion matrix
</a:t>
            </a:r>
            <a:r>
              <a:rPr sz="1150" b="0" i="0">
                <a:solidFill>
                  <a:srgbClr val="8A938E"/>
                </a:solidFill>
                <a:latin typeface="Calibri"/>
              </a:rPr>
              <a:t>Rows = true class · columns = predicted class. Bright diagonal = correct.
</a:t>
            </a:r>
            <a:r>
              <a:rPr sz="1300" b="1" i="0">
                <a:solidFill>
                  <a:srgbClr val="F5F5F0"/>
                </a:solidFill>
                <a:latin typeface="Calibri"/>
              </a:rPr>
              <a:t>What we see: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• A strong diagonal — most predictions land on the correct class.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• Off-diagonal mass is clustered, not random — the model confuses </a:t>
            </a:r>
            <a:r>
              <a:rPr sz="1150" b="0" i="1">
                <a:solidFill>
                  <a:srgbClr val="4F8F5F"/>
                </a:solidFill>
                <a:latin typeface="Calibri"/>
              </a:rPr>
              <a:t>related diseases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 (Potato Early ↔ Late Blight, Corn Gray ↔ Common Rust).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• Healthy classes rarely mis-predict as diseased — high "true negative" reliability.
</a:t>
            </a:r>
            <a:r>
              <a:rPr sz="1300" b="1" i="0">
                <a:solidFill>
                  <a:srgbClr val="F5F5F0"/>
                </a:solidFill>
                <a:latin typeface="Calibri"/>
              </a:rPr>
              <a:t>Why this is encouraging:
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A human pathologist would likely make the same mistakes on a 2-second glance at a phone photo. The failures are </a:t>
            </a:r>
            <a:r>
              <a:rPr sz="1150" b="1" i="0">
                <a:solidFill>
                  <a:srgbClr val="10B981"/>
                </a:solidFill>
                <a:latin typeface="Calibri"/>
              </a:rPr>
              <a:t>systematic, not random</a:t>
            </a:r>
            <a:r>
              <a:rPr sz="1150" b="0" i="0">
                <a:solidFill>
                  <a:srgbClr val="F5F5F0"/>
                </a:solidFill>
                <a:latin typeface="Calibri"/>
              </a:rPr>
              <a:t> — which means the model has learned something real about disease appearance, and the residual errors map onto genuinely ambiguous visual signatures.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16B  ·  THE WORKING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A classifier is not a product. This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8046720" cy="443484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1920239"/>
            <a:ext cx="6656832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783080"/>
            <a:ext cx="2834640" cy="44348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WHAT VERDIS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286000"/>
            <a:ext cx="24688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Diagnose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Drop a leaf · top-5 + confidence.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Treat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Severity + treatment plan.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Explain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Live Grad-CAM overlay.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Compare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ResNet50 vs EfficientNet.
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Evaluate
</a:t>
            </a:r>
            <a:r>
              <a:rPr sz="1100" b="0" i="0">
                <a:solidFill>
                  <a:srgbClr val="8A938E"/>
                </a:solidFill>
                <a:latin typeface="Calibri"/>
              </a:rPr>
              <a:t>Confusion matrix + per-class F1.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17  ·  THE NON-OBVIOUS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F5F0"/>
                </a:solidFill>
                <a:latin typeface="Calibri"/>
              </a:rPr>
              <a:t>Five things we did not expect to be 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Architecture barely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476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ResNet50 vs EfficientNet-B0 on identical conditions: 58.33% vs 57.14%. The two models are within three test images of each other. The hours we spent comparing them produced almost no actionable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Data beats every algorithmic trick.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1635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Adding the augmented PlantDoc dataset moved test accuracy from 58% to 73% — a single change that outweighed every loss-function tweak, regularizer, and schedule decision combined.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39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61187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TTA is free, and almost no one uses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685031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Eight augmented views averaged at inference time produced +2 percentage points on top of the best trained model. Zero retraining. Eight times slower inference is still 1.4 seconds on a CPU.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F8F5F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8055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The errors are systematic — and that is a good 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55371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The model confuses Potato Early Blight with Potato Late Blight, and Corn Gray Leaf Spot with Common Rust. So would a human pathologist with a 2-second glance. Random errors would worry us; these don't.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49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F5F0"/>
                </a:solidFill>
                <a:latin typeface="Calibri"/>
              </a:rPr>
              <a:t>A 75% accuracy is not the product.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42239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Calibri"/>
              </a:rPr>
              <a:t>Calibrated confidence + top-5 + Grad-CAM heatmap together turn raw classification into something an untrained farmer can act on. The number on the box is not the deliverable.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  <a:latin typeface="Calibri"/>
              </a:rPr>
              <a:t>18  ·  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5F5F0"/>
                </a:solidFill>
                <a:latin typeface="Calibri"/>
              </a:rPr>
              <a:t>What we learned, what we shipped, what comes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Domain shift is the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Beating PlantVillage is easy. Beating PlantDoc forced every architectural and training decision in this project. Bridging lab → field is the real research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F8F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Data &gt; clever tricks.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The single biggest jump (58 → 73%) came from adding more diverse training data. Focal Loss, CutMix and freezing strategies each added smaller but meaningful gains on top of that.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611880" cy="2926080"/>
          </a:xfrm>
          <a:prstGeom prst="roundRect">
            <a:avLst>
              <a:gd name="adj" fmla="val 6000"/>
            </a:avLst>
          </a:prstGeom>
          <a:solidFill>
            <a:srgbClr val="131815"/>
          </a:solidFill>
          <a:ln w="6350">
            <a:solidFill>
              <a:srgbClr val="2A3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F5F0"/>
                </a:solidFill>
                <a:latin typeface="Calibri"/>
              </a:rPr>
              <a:t>A classifier isn't a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8A938E"/>
                </a:solidFill>
                <a:latin typeface="Calibri"/>
              </a:rPr>
              <a:t>Calibrated top-5 + Grad-CAM + confidence-based fallbacks turn raw predictions into a decision-support tool a non-expert can actually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1A211D"/>
          </a:solidFill>
          <a:ln w="9525">
            <a:solidFill>
              <a:srgbClr val="3F6E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F8F5F"/>
                </a:solidFill>
                <a:latin typeface="Calibri"/>
              </a:rP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F5F5F0"/>
                </a:solidFill>
                <a:latin typeface="Calibri"/>
              </a:rPr>
              <a:t>More field data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across regions and crop varieties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EfficientNet-B4 / ViT-B/16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to test if larger backbones break our 75% ceiling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Open-set rejection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so the model can say "I don't know"  ·  </a:t>
            </a:r>
            <a:r>
              <a:rPr sz="1250" b="1" i="0">
                <a:solidFill>
                  <a:srgbClr val="F5F5F0"/>
                </a:solidFill>
                <a:latin typeface="Calibri"/>
              </a:rPr>
              <a:t>Mobile deployment</a:t>
            </a:r>
            <a:r>
              <a:rPr sz="1200" b="0" i="0">
                <a:solidFill>
                  <a:srgbClr val="8A938E"/>
                </a:solidFill>
                <a:latin typeface="Calibri"/>
              </a:rPr>
              <a:t> via ONNX → Android, fully offline.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2A3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938E"/>
                </a:solidFill>
                <a:latin typeface="Calibri"/>
              </a:rPr>
              <a:t>VERDIS  ·  Crop Disease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5E59"/>
                </a:solidFill>
                <a:latin typeface="Consola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