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486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1A211D"/>
          </a:solidFill>
          <a:ln w="9525">
            <a:solidFill>
              <a:srgbClr val="3F6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4F8F5F"/>
                </a:solidFill>
                <a:latin typeface="Calibri"/>
              </a:rPr>
              <a:t>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66928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A938E"/>
                </a:solidFill>
                <a:latin typeface="Calibri"/>
              </a:rPr>
              <a:t>VERDIS  ·  v0.9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7772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5E59"/>
                </a:solidFill>
                <a:latin typeface="Calibri"/>
              </a:rPr>
              <a:t>Agri-AI · Final-year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F8F5F"/>
                </a:solidFill>
                <a:latin typeface="Calibri"/>
              </a:rPr>
              <a:t>FINAL-YEAR COMPUTER VISION PROJECT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110642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5F5F0"/>
                </a:solidFill>
                <a:latin typeface="Calibri"/>
              </a:rPr>
              <a:t>Smartphone-Based Crop Disease
Detection and Decision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8A938E"/>
                </a:solidFill>
                <a:latin typeface="Calibri"/>
              </a:rPr>
              <a:t>A computer vision case study in real-world domain adaptation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937760"/>
            <a:ext cx="2743200" cy="118872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510235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REAL-WORLD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358384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  <a:latin typeface="Consolas"/>
              </a:rPr>
              <a:t>75.40%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74243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38E"/>
                </a:solidFill>
                <a:latin typeface="Calibri"/>
              </a:rPr>
              <a:t>PlantDoc test · with TTA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4937760"/>
            <a:ext cx="2743200" cy="118872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510235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DISEASE CLASSES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5358384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5F5F0"/>
                </a:solidFill>
                <a:latin typeface="Consolas"/>
              </a:rPr>
              <a:t>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574243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38E"/>
                </a:solidFill>
                <a:latin typeface="Calibri"/>
              </a:rPr>
              <a:t>14 plant species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937760"/>
            <a:ext cx="2743200" cy="118872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510235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TRAINING IMAGES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5358384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5F5F0"/>
                </a:solidFill>
                <a:latin typeface="Consolas"/>
              </a:rPr>
              <a:t>41,039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574243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38E"/>
                </a:solidFill>
                <a:latin typeface="Calibri"/>
              </a:rPr>
              <a:t>PlantVillage + PlantDoc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4937760"/>
            <a:ext cx="2606040" cy="118872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3728" y="510235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5358384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5F5F0"/>
                </a:solidFill>
                <a:latin typeface="Consolas"/>
              </a:rPr>
              <a:t>ResNet50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5742432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38E"/>
                </a:solidFill>
                <a:latin typeface="Calibri"/>
              </a:rPr>
              <a:t>vs EfficientNet-B0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A3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A938E"/>
                </a:solidFill>
                <a:latin typeface="Calibri"/>
              </a:rPr>
              <a:t>VERDIS  ·  Crop Disease 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5E59"/>
                </a:solidFill>
                <a:latin typeface="Consolas"/>
              </a:rPr>
              <a:t>01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01  · 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5F5F0"/>
                </a:solidFill>
                <a:latin typeface="Calibri"/>
              </a:rPr>
              <a:t>Crop disease costs the world a fifth of every harvest.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64008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10B981"/>
                </a:solidFill>
                <a:latin typeface="Consolas"/>
              </a:rPr>
              <a:t>20–40%  </a:t>
            </a:r>
            <a:r>
              <a:rPr sz="1500" b="0" i="0">
                <a:solidFill>
                  <a:srgbClr val="F5F5F0"/>
                </a:solidFill>
                <a:latin typeface="Calibri"/>
              </a:rPr>
              <a:t>of annual crop yields are lost to pests and disease (FAO).
</a:t>
            </a:r>
            <a:r>
              <a:rPr sz="1400" b="0" i="0">
                <a:solidFill>
                  <a:srgbClr val="F5F5F0"/>
                </a:solidFill>
                <a:latin typeface="Calibri"/>
              </a:rPr>
              <a:t>Plant pathologists who can diagnose disease from a leaf are concentrated in research labs, not on small farms. Smartphones, however, are everywhere.
</a:t>
            </a:r>
            <a:r>
              <a:rPr sz="1400" b="0" i="0">
                <a:solidFill>
                  <a:srgbClr val="8A938E"/>
                </a:solidFill>
                <a:latin typeface="Calibri"/>
              </a:rPr>
              <a:t>This is a computer-vision problem: </a:t>
            </a:r>
            <a:r>
              <a:rPr sz="1400" b="0" i="1">
                <a:solidFill>
                  <a:srgbClr val="F5F5F0"/>
                </a:solidFill>
                <a:latin typeface="Calibri"/>
              </a:rPr>
              <a:t>the diagnostic signal is visual</a:t>
            </a:r>
            <a:r>
              <a:rPr sz="1400" b="0" i="0">
                <a:solidFill>
                  <a:srgbClr val="8A938E"/>
                </a:solidFill>
                <a:latin typeface="Calibri"/>
              </a:rPr>
              <a:t> (lesions, discoloration, spots, mosaics, wilting).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920240"/>
            <a:ext cx="4297680" cy="123444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207568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GLOBAL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33172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0B981"/>
                </a:solidFill>
                <a:latin typeface="Consolas"/>
              </a:rPr>
              <a:t>20–40%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69748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38E"/>
                </a:solidFill>
                <a:latin typeface="Calibri"/>
              </a:rPr>
              <a:t>crop yield lost to disease each year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337560"/>
            <a:ext cx="4297680" cy="123444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34930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AGRICULTURAL REALITY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3749039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  <a:latin typeface="Consolas"/>
              </a:rPr>
              <a:t>&lt; 1 expert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411480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38E"/>
                </a:solidFill>
                <a:latin typeface="Calibri"/>
              </a:rPr>
              <a:t>per 10,000 farmers in many regions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4754880"/>
            <a:ext cx="4297680" cy="123444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491032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TECHNOLOGY REACH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516636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4F8F5F"/>
                </a:solidFill>
                <a:latin typeface="Consolas"/>
              </a:rPr>
              <a:t>6.8 billion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553212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38E"/>
                </a:solidFill>
                <a:latin typeface="Calibri"/>
              </a:rPr>
              <a:t>smartphone users worldwide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A3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A938E"/>
                </a:solidFill>
                <a:latin typeface="Calibri"/>
              </a:rPr>
              <a:t>VERDIS  ·  Crop Disease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5E59"/>
                </a:solidFill>
                <a:latin typeface="Consolas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02  ·  THE CV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5F5F0"/>
                </a:solidFill>
                <a:latin typeface="Calibri"/>
              </a:rPr>
              <a:t>A model that wins the benchmark can still fail in the field.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1064240" cy="3383280"/>
          </a:xfrm>
          <a:prstGeom prst="roundRect">
            <a:avLst>
              <a:gd name="adj" fmla="val 6000"/>
            </a:avLst>
          </a:prstGeom>
          <a:solidFill>
            <a:srgbClr val="1A211D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omain_shi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3598" y="1874519"/>
            <a:ext cx="6194322" cy="3200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A211D"/>
          </a:solidFill>
          <a:ln w="9525">
            <a:solidFill>
              <a:srgbClr val="3F6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5896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F8F5F"/>
                </a:solidFill>
                <a:latin typeface="Calibri"/>
              </a:rPr>
              <a:t>DOMAIN SHIFT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687568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0B981"/>
                </a:solidFill>
                <a:latin typeface="Consolas"/>
              </a:rPr>
              <a:t>~100%</a:t>
            </a:r>
            <a:r>
              <a:rPr sz="1250" b="0" i="0">
                <a:solidFill>
                  <a:srgbClr val="F5F5F0"/>
                </a:solidFill>
                <a:latin typeface="Calibri"/>
              </a:rPr>
              <a:t> on PlantVillage validation   →   </a:t>
            </a:r>
            <a:r>
              <a:rPr sz="1400" b="1" i="0">
                <a:solidFill>
                  <a:srgbClr val="EF4444"/>
                </a:solidFill>
                <a:latin typeface="Consolas"/>
              </a:rPr>
              <a:t>~30%</a:t>
            </a:r>
            <a:r>
              <a:rPr sz="1250" b="0" i="0">
                <a:solidFill>
                  <a:srgbClr val="F5F5F0"/>
                </a:solidFill>
                <a:latin typeface="Calibri"/>
              </a:rPr>
              <a:t> on real PlantDoc field photographs.   </a:t>
            </a:r>
            <a:r>
              <a:rPr sz="1250" b="1" i="0">
                <a:solidFill>
                  <a:srgbClr val="4F8F5F"/>
                </a:solidFill>
                <a:latin typeface="Calibri"/>
              </a:rPr>
              <a:t>Bridging this gap is the entire project.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A3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A938E"/>
                </a:solidFill>
                <a:latin typeface="Calibri"/>
              </a:rPr>
              <a:t>VERDIS  ·  Crop Disease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5E59"/>
                </a:solidFill>
                <a:latin typeface="Consolas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03  · 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5F5F0"/>
                </a:solidFill>
                <a:latin typeface="Calibri"/>
              </a:rPr>
              <a:t>Two datasets — one easy benchmark, one honest test.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440680" cy="365760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1554480" cy="292608"/>
          </a:xfrm>
          <a:prstGeom prst="roundRect">
            <a:avLst>
              <a:gd name="adj" fmla="val 40000"/>
            </a:avLst>
          </a:prstGeom>
          <a:solidFill>
            <a:srgbClr val="3F6E47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4825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5F5F0"/>
                </a:solidFill>
                <a:latin typeface="Calibri"/>
              </a:rPr>
              <a:t>BENCHMARK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5F5F0"/>
                </a:solidFill>
                <a:latin typeface="Calibri"/>
              </a:rPr>
              <a:t>PlantVillage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A938E"/>
                </a:solidFill>
                <a:latin typeface="Calibri"/>
              </a:rPr>
              <a:t>Mohanty et al., Penn State (2016)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91840"/>
            <a:ext cx="50292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>
                <a:solidFill>
                  <a:srgbClr val="4F8F5F"/>
                </a:solidFill>
                <a:latin typeface="Calibri"/>
              </a:rPr>
              <a:t>◆  </a:t>
            </a:r>
            <a:r>
              <a:rPr sz="1150">
                <a:solidFill>
                  <a:srgbClr val="F5F5F0"/>
                </a:solidFill>
                <a:latin typeface="Calibri"/>
              </a:rPr>
              <a:t>54,000+ leaf images, lab conditions</a:t>
            </a:r>
          </a:p>
          <a:p>
            <a:pPr algn="l">
              <a:lnSpc>
                <a:spcPct val="140000"/>
              </a:lnSpc>
            </a:pPr>
            <a:r>
              <a:rPr sz="1150">
                <a:solidFill>
                  <a:srgbClr val="4F8F5F"/>
                </a:solidFill>
                <a:latin typeface="Calibri"/>
              </a:rPr>
              <a:t>◆  </a:t>
            </a:r>
            <a:r>
              <a:rPr sz="1150">
                <a:solidFill>
                  <a:srgbClr val="F5F5F0"/>
                </a:solidFill>
                <a:latin typeface="Calibri"/>
              </a:rPr>
              <a:t>Uniform background, perfect lighting</a:t>
            </a:r>
          </a:p>
          <a:p>
            <a:pPr algn="l">
              <a:lnSpc>
                <a:spcPct val="140000"/>
              </a:lnSpc>
            </a:pPr>
            <a:r>
              <a:rPr sz="1150">
                <a:solidFill>
                  <a:srgbClr val="4F8F5F"/>
                </a:solidFill>
                <a:latin typeface="Calibri"/>
              </a:rPr>
              <a:t>◆  </a:t>
            </a:r>
            <a:r>
              <a:rPr sz="1150">
                <a:solidFill>
                  <a:srgbClr val="F5F5F0"/>
                </a:solidFill>
                <a:latin typeface="Calibri"/>
              </a:rPr>
              <a:t>Trivial benchmark — used for pretraining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28800"/>
            <a:ext cx="5440680" cy="365760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12700">
            <a:solidFill>
              <a:srgbClr val="3F6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011680"/>
            <a:ext cx="1645920" cy="292608"/>
          </a:xfrm>
          <a:prstGeom prst="roundRect">
            <a:avLst>
              <a:gd name="adj" fmla="val 40000"/>
            </a:avLst>
          </a:prstGeom>
          <a:solidFill>
            <a:srgbClr val="3F6E47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04825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5F5F0"/>
                </a:solidFill>
                <a:latin typeface="Calibri"/>
              </a:rPr>
              <a:t>REAL-WORLD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688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5F5F0"/>
                </a:solidFill>
                <a:latin typeface="Calibri"/>
              </a:rPr>
              <a:t>PlantDoc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34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A938E"/>
                </a:solidFill>
                <a:latin typeface="Calibri"/>
              </a:rPr>
              <a:t>Singh et al., IIT-Hyderabad (2020)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91840"/>
            <a:ext cx="50292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>
                <a:solidFill>
                  <a:srgbClr val="4F8F5F"/>
                </a:solidFill>
                <a:latin typeface="Calibri"/>
              </a:rPr>
              <a:t>◆  </a:t>
            </a:r>
            <a:r>
              <a:rPr sz="1150">
                <a:solidFill>
                  <a:srgbClr val="F5F5F0"/>
                </a:solidFill>
                <a:latin typeface="Calibri"/>
              </a:rPr>
              <a:t>2,500+ photos taken in actual fields</a:t>
            </a:r>
          </a:p>
          <a:p>
            <a:pPr algn="l">
              <a:lnSpc>
                <a:spcPct val="140000"/>
              </a:lnSpc>
            </a:pPr>
            <a:r>
              <a:rPr sz="1150">
                <a:solidFill>
                  <a:srgbClr val="4F8F5F"/>
                </a:solidFill>
                <a:latin typeface="Calibri"/>
              </a:rPr>
              <a:t>◆  </a:t>
            </a:r>
            <a:r>
              <a:rPr sz="1150">
                <a:solidFill>
                  <a:srgbClr val="F5F5F0"/>
                </a:solidFill>
                <a:latin typeface="Calibri"/>
              </a:rPr>
              <a:t>Variable lighting, dirt, blur, occlusion</a:t>
            </a:r>
          </a:p>
          <a:p>
            <a:pPr algn="l">
              <a:lnSpc>
                <a:spcPct val="140000"/>
              </a:lnSpc>
            </a:pPr>
            <a:r>
              <a:rPr sz="1150">
                <a:solidFill>
                  <a:srgbClr val="4F8F5F"/>
                </a:solidFill>
                <a:latin typeface="Calibri"/>
              </a:rPr>
              <a:t>◆  </a:t>
            </a:r>
            <a:r>
              <a:rPr sz="1150">
                <a:solidFill>
                  <a:srgbClr val="F5F5F0"/>
                </a:solidFill>
                <a:latin typeface="Calibri"/>
              </a:rPr>
              <a:t>Our honest evaluation set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6000"/>
            </a:avLst>
          </a:prstGeom>
          <a:solidFill>
            <a:srgbClr val="1A211D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760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A938E"/>
                </a:solidFill>
                <a:latin typeface="Consolas"/>
              </a:rPr>
              <a:t>After alignment to 27 shared classes:   30,747  PV train     7,372  PV val     2,668  PD train     252  PD test     ·   41,039 images total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A3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A938E"/>
                </a:solidFill>
                <a:latin typeface="Calibri"/>
              </a:rPr>
              <a:t>VERDIS  ·  Crop Disease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5E59"/>
                </a:solidFill>
                <a:latin typeface="Consolas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04  ·  ARCHITECTURE &amp; CONTROLLED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5F5F0"/>
                </a:solidFill>
                <a:latin typeface="Calibri"/>
              </a:rPr>
              <a:t>ResNet50 vs EfficientNet-B0, on identical conditions.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A938E"/>
                </a:solidFill>
                <a:latin typeface="Calibri"/>
              </a:rPr>
              <a:t>Same dataset (PV+PD, no augmented).  Same loss, augmentation, schedule.  Only the architecture differs.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5440680" cy="329184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12700">
            <a:solidFill>
              <a:srgbClr val="3F6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468880"/>
            <a:ext cx="1371600" cy="292608"/>
          </a:xfrm>
          <a:prstGeom prst="roundRect">
            <a:avLst>
              <a:gd name="adj" fmla="val 40000"/>
            </a:avLst>
          </a:prstGeom>
          <a:solidFill>
            <a:srgbClr val="3F6E47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5F5F0"/>
                </a:solidFill>
                <a:latin typeface="Calibri"/>
              </a:rPr>
              <a:t>WINNER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5F5F0"/>
                </a:solidFill>
                <a:latin typeface="Calibri"/>
              </a:rPr>
              <a:t>ResNet50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918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A938E"/>
                </a:solidFill>
                <a:latin typeface="Consolas"/>
              </a:rPr>
              <a:t>25.6M parameters · skip connections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4048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10B981"/>
                </a:solidFill>
                <a:latin typeface="Consolas"/>
              </a:rPr>
              <a:t>58.33%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177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38E"/>
                </a:solidFill>
                <a:latin typeface="Calibri"/>
              </a:rPr>
              <a:t>PlantDoc real-world test accuracy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286000"/>
            <a:ext cx="5440680" cy="329184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2468880"/>
            <a:ext cx="1463040" cy="292608"/>
          </a:xfrm>
          <a:prstGeom prst="roundRect">
            <a:avLst>
              <a:gd name="adj" fmla="val 40000"/>
            </a:avLst>
          </a:prstGeom>
          <a:solidFill>
            <a:srgbClr val="1A211D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505456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59E0B"/>
                </a:solidFill>
                <a:latin typeface="Calibri"/>
              </a:rPr>
              <a:t>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260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5F5F0"/>
                </a:solidFill>
                <a:latin typeface="Calibri"/>
              </a:rPr>
              <a:t>EfficientNet-B0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918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A938E"/>
                </a:solidFill>
                <a:latin typeface="Consolas"/>
              </a:rPr>
              <a:t>5.3M parameters · compound scaling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84048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59E0B"/>
                </a:solidFill>
                <a:latin typeface="Consolas"/>
              </a:rPr>
              <a:t>57.14%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177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38E"/>
                </a:solidFill>
                <a:latin typeface="Calibri"/>
              </a:rPr>
              <a:t>PlantDoc real-world test accuracy (with TTA)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760720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1A211D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87044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5F5F0"/>
                </a:solidFill>
                <a:latin typeface="Calibri"/>
              </a:rPr>
              <a:t>1.19-point gap = ~3 images out of 252. </a:t>
            </a:r>
            <a:r>
              <a:rPr sz="1100" b="0" i="0">
                <a:solidFill>
                  <a:srgbClr val="8A938E"/>
                </a:solidFill>
                <a:latin typeface="Calibri"/>
              </a:rPr>
              <a:t>Within noise. Architecture matters less than expected — the limiting factor is data, not network design.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A3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A938E"/>
                </a:solidFill>
                <a:latin typeface="Calibri"/>
              </a:rPr>
              <a:t>VERDIS  ·  Crop Disease 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5E59"/>
                </a:solidFill>
                <a:latin typeface="Consolas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05  ·  DATA AUGMENTATION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5F5F0"/>
                </a:solidFill>
                <a:latin typeface="Calibri"/>
              </a:rPr>
              <a:t>Teach the disease — not the photo.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A938E"/>
                </a:solidFill>
                <a:latin typeface="Calibri"/>
              </a:rPr>
              <a:t>Eight randomized transforms applied to every training image, every epoch — forcing invariance to nuisance variation.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11064240" cy="384048"/>
          </a:xfrm>
          <a:prstGeom prst="rect">
            <a:avLst/>
          </a:prstGeom>
          <a:solidFill>
            <a:srgbClr val="1A211D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TRANSFORM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4688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4688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WHAT IT BUYS 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61488"/>
            <a:ext cx="11064240" cy="411480"/>
          </a:xfrm>
          <a:prstGeom prst="rect">
            <a:avLst/>
          </a:prstGeom>
          <a:solidFill>
            <a:srgbClr val="131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5292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5F5F0"/>
                </a:solidFill>
                <a:latin typeface="Consolas"/>
              </a:rPr>
              <a:t>RandomResizedCrop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8529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F8F5F"/>
                </a:solidFill>
                <a:latin typeface="Consolas"/>
              </a:rPr>
              <a:t>scale 0.6–1.0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85292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38E"/>
                </a:solidFill>
                <a:latin typeface="Calibri"/>
              </a:rPr>
              <a:t>Scale / zoom invariance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644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5F5F0"/>
                </a:solidFill>
                <a:latin typeface="Consolas"/>
              </a:rPr>
              <a:t>RandomHorizontalFlip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26440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F8F5F"/>
                </a:solidFill>
                <a:latin typeface="Consolas"/>
              </a:rPr>
              <a:t>p=0.5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26440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38E"/>
                </a:solidFill>
                <a:latin typeface="Calibri"/>
              </a:rPr>
              <a:t>Mirror symmetry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584448"/>
            <a:ext cx="11064240" cy="411480"/>
          </a:xfrm>
          <a:prstGeom prst="rect">
            <a:avLst/>
          </a:prstGeom>
          <a:solidFill>
            <a:srgbClr val="131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675887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5F5F0"/>
                </a:solidFill>
                <a:latin typeface="Consolas"/>
              </a:rPr>
              <a:t>RandomRotation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675887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F8F5F"/>
                </a:solidFill>
                <a:latin typeface="Consolas"/>
              </a:rPr>
              <a:t>±30°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675887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38E"/>
                </a:solidFill>
                <a:latin typeface="Calibri"/>
              </a:rPr>
              <a:t>Camera-tilt invariance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08736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5F5F0"/>
                </a:solidFill>
                <a:latin typeface="Consolas"/>
              </a:rPr>
              <a:t>RandomPerspective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0873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F8F5F"/>
                </a:solidFill>
                <a:latin typeface="Consolas"/>
              </a:rPr>
              <a:t>distortion 0.3 · p=0.4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08736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38E"/>
                </a:solidFill>
                <a:latin typeface="Calibri"/>
              </a:rPr>
              <a:t>3D viewing-angle invariance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407408"/>
            <a:ext cx="11064240" cy="411480"/>
          </a:xfrm>
          <a:prstGeom prst="rect">
            <a:avLst/>
          </a:prstGeom>
          <a:solidFill>
            <a:srgbClr val="131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49884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5F5F0"/>
                </a:solidFill>
                <a:latin typeface="Consolas"/>
              </a:rPr>
              <a:t>ColorJitter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4988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F8F5F"/>
                </a:solidFill>
                <a:latin typeface="Consolas"/>
              </a:rPr>
              <a:t>b/c/s 0.3 · hue 0.08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49884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38E"/>
                </a:solidFill>
                <a:latin typeface="Calibri"/>
              </a:rPr>
              <a:t>Lighting / white-balance invariance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910327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5F5F0"/>
                </a:solidFill>
                <a:latin typeface="Consolas"/>
              </a:rPr>
              <a:t>RandomGrayscale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4910327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F8F5F"/>
                </a:solidFill>
                <a:latin typeface="Consolas"/>
              </a:rPr>
              <a:t>p=0.05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910327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38E"/>
                </a:solidFill>
                <a:latin typeface="Calibri"/>
              </a:rPr>
              <a:t>Avoid over-reliance on color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230368"/>
            <a:ext cx="11064240" cy="411480"/>
          </a:xfrm>
          <a:prstGeom prst="rect">
            <a:avLst/>
          </a:prstGeom>
          <a:solidFill>
            <a:srgbClr val="131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3218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5F5F0"/>
                </a:solidFill>
                <a:latin typeface="Consolas"/>
              </a:rPr>
              <a:t>GaussianBlur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532180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F8F5F"/>
                </a:solidFill>
                <a:latin typeface="Consolas"/>
              </a:rPr>
              <a:t>kernel 3 · σ 0.1–2.0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532180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38E"/>
                </a:solidFill>
                <a:latin typeface="Calibri"/>
              </a:rPr>
              <a:t>Motion / focus blur invariance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A3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A938E"/>
                </a:solidFill>
                <a:latin typeface="Calibri"/>
              </a:rPr>
              <a:t>VERDIS  ·  Crop Disease Detection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5E59"/>
                </a:solidFill>
                <a:latin typeface="Consolas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05B  ·  AUGMENTATION, VISUALIZED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5F5F0"/>
                </a:solidFill>
                <a:latin typeface="Calibri"/>
              </a:rPr>
              <a:t>One leaf becomes six.  Six become hundreds.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8046720" cy="4434840"/>
          </a:xfrm>
          <a:prstGeom prst="roundRect">
            <a:avLst>
              <a:gd name="adj" fmla="val 6000"/>
            </a:avLst>
          </a:prstGeom>
          <a:solidFill>
            <a:srgbClr val="1A211D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ugmentation_gri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920239"/>
            <a:ext cx="5852160" cy="4160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778240" y="1783080"/>
            <a:ext cx="2834640" cy="443484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6840" y="196596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F8F5F"/>
                </a:solidFill>
                <a:latin typeface="Calibri"/>
              </a:rPr>
              <a:t>WHAT THIS BUYS 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2286000"/>
            <a:ext cx="246888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5F5F0"/>
                </a:solidFill>
                <a:latin typeface="Calibri"/>
              </a:rPr>
              <a:t>Each training step sees a new variant.
</a:t>
            </a:r>
            <a:r>
              <a:rPr sz="1150" b="0" i="0">
                <a:solidFill>
                  <a:srgbClr val="F5F5F0"/>
                </a:solidFill>
                <a:latin typeface="Calibri"/>
              </a:rPr>
              <a:t>The model never memorizes a specific photograph — it learns the disease.
</a:t>
            </a:r>
            <a:r>
              <a:rPr sz="1150" b="0" i="0">
                <a:solidFill>
                  <a:srgbClr val="F5F5F0"/>
                </a:solidFill>
                <a:latin typeface="Calibri"/>
              </a:rPr>
              <a:t>Effective dataset size grows from 41k to effectively unlimited.
</a:t>
            </a:r>
            <a:r>
              <a:rPr sz="1150" b="1" i="0">
                <a:solidFill>
                  <a:srgbClr val="4F8F5F"/>
                </a:solidFill>
                <a:latin typeface="Calibri"/>
              </a:rPr>
              <a:t>Cost: zero new images.
Benefit: real robustness.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A3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A938E"/>
                </a:solidFill>
                <a:latin typeface="Calibri"/>
              </a:rPr>
              <a:t>VERDIS  ·  Crop Disease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5E59"/>
                </a:solidFill>
                <a:latin typeface="Consolas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06  ·  FOUR TECHNIQUES THAT STACKED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5F5F0"/>
                </a:solidFill>
                <a:latin typeface="Calibri"/>
              </a:rPr>
              <a:t>Loss, regularization, schedule, inference.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F8F5F"/>
                </a:solidFill>
                <a:latin typeface="Consolas"/>
              </a:rPr>
              <a:t>FOCAL 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A938E"/>
                </a:solidFill>
                <a:latin typeface="Consolas"/>
              </a:rPr>
              <a:t>γ = 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01168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5F5F0"/>
                </a:solidFill>
                <a:latin typeface="Calibri"/>
              </a:rPr>
              <a:t>FL(p) = −(1−p)ᵞ · log(p).   Down-weights examples the model already gets right; redirects gradient mass to hard, rare classes (Corn Gray Leaf Spot, Potato blights).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8036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F8F5F"/>
                </a:solidFill>
                <a:latin typeface="Consolas"/>
              </a:rPr>
              <a:t>CUTMIX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8328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A938E"/>
                </a:solidFill>
                <a:latin typeface="Consolas"/>
              </a:rPr>
              <a:t>α = 0.3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306324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5F5F0"/>
                </a:solidFill>
                <a:latin typeface="Calibri"/>
              </a:rPr>
              <a:t>Cut a patch from image A, paste onto image B; mix labels by patch area. Forces the model to use the whole leaf, not just the most salient lesion. Strong regularizer.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1148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onsolas"/>
              </a:rPr>
              <a:t>TWO-PHASE FINE-TUNING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3484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A938E"/>
                </a:solidFill>
                <a:latin typeface="Consolas"/>
              </a:rPr>
              <a:t>freeze 10 epochs → unfreeze 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411480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5F5F0"/>
                </a:solidFill>
                <a:latin typeface="Calibri"/>
              </a:rPr>
              <a:t>Phase 1: train head only (frozen backbone) so random initial gradients don't destroy ImageNet features. Phase 2: unfreeze + LR×0.1. Final lr = 1e-6 with cosine annealing.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983479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166359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onsolas"/>
              </a:rPr>
              <a:t>TEST-TIME AUGMENTATION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486399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A938E"/>
                </a:solidFill>
                <a:latin typeface="Consolas"/>
              </a:rPr>
              <a:t>8 views averaged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5166359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5F5F0"/>
                </a:solidFill>
                <a:latin typeface="Calibri"/>
              </a:rPr>
              <a:t>At inference: predict on 8 augmented copies of the image, average the softmax outputs. Free 1-3% gain at 8× inference cost. Our gain: +2 points (73.41% → 75.40%).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A3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A938E"/>
                </a:solidFill>
                <a:latin typeface="Calibri"/>
              </a:rPr>
              <a:t>VERDIS  ·  Crop Disease Detection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5E59"/>
                </a:solidFill>
                <a:latin typeface="Consolas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07  ·  EXPLAINABILITY  ·  GRAD-CAM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5F5F0"/>
                </a:solidFill>
                <a:latin typeface="Calibri"/>
              </a:rPr>
              <a:t>A CNN that can't explain itself shouldn't make decisions.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1064240" cy="3383280"/>
          </a:xfrm>
          <a:prstGeom prst="roundRect">
            <a:avLst>
              <a:gd name="adj" fmla="val 6000"/>
            </a:avLst>
          </a:prstGeom>
          <a:solidFill>
            <a:srgbClr val="1A211D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radcam_examp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308" y="1874519"/>
            <a:ext cx="7742903" cy="3200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A211D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5896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TRUST CHECK  ·  THE HEATMAP FOCUSES ON THE LESION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687568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F5F5F0"/>
                </a:solidFill>
                <a:latin typeface="Calibri"/>
              </a:rPr>
              <a:t>Grad-CAM weights the activations of the final convolutional block by their gradients with respect to the predicted class. Bright = pixels that drove the prediction. </a:t>
            </a:r>
            <a:r>
              <a:rPr sz="1150" b="1" i="0">
                <a:solidFill>
                  <a:srgbClr val="4F8F5F"/>
                </a:solidFill>
                <a:latin typeface="Calibri"/>
              </a:rPr>
              <a:t>Heatmap on lesions = trustworthy. Heatmap on background = warning.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A3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A938E"/>
                </a:solidFill>
                <a:latin typeface="Calibri"/>
              </a:rPr>
              <a:t>VERDIS  ·  Crop Disease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5E59"/>
                </a:solidFill>
                <a:latin typeface="Consolas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08  ·  FINAL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5F5F0"/>
                </a:solidFill>
                <a:latin typeface="Calibri"/>
              </a:rPr>
              <a:t>ResNet50 · joint_all · with TTA  ·  PlantDoc test (252 images).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99339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249424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  <a:latin typeface="Consolas"/>
              </a:rPr>
              <a:t>75.40%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81635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38E"/>
                </a:solidFill>
                <a:latin typeface="Calibri"/>
              </a:rPr>
              <a:t>+ Test-time augmentation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82880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4448" y="199339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F1 (MACRO)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2249424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5F5F0"/>
                </a:solidFill>
                <a:latin typeface="Consolas"/>
              </a:rPr>
              <a:t>0.746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81635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38E"/>
                </a:solidFill>
                <a:latin typeface="Calibri"/>
              </a:rPr>
              <a:t>Across all 27 classes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99339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PRECISION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249424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5F5F0"/>
                </a:solidFill>
                <a:latin typeface="Consolas"/>
              </a:rPr>
              <a:t>77.91%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81635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38E"/>
                </a:solidFill>
                <a:latin typeface="Calibri"/>
              </a:rPr>
              <a:t>Macro-averaged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182880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53728" y="199339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RECALL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3728" y="2249424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5F5F0"/>
                </a:solidFill>
                <a:latin typeface="Consolas"/>
              </a:rPr>
              <a:t>75.58%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3728" y="2816352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38E"/>
                </a:solidFill>
                <a:latin typeface="Calibri"/>
              </a:rPr>
              <a:t>Macro-averaged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20440"/>
            <a:ext cx="11064240" cy="274320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65760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F8F5F"/>
                </a:solidFill>
                <a:latin typeface="Calibri"/>
              </a:rPr>
              <a:t>+45 POINTS FROM PV-ONLY BASELINE TO FINAL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931920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F5F0"/>
                </a:solidFill>
                <a:latin typeface="Calibri"/>
              </a:rPr>
              <a:t>Stage-by-stage progression on the PlantDoc test 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5262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5F5F0"/>
                </a:solidFill>
                <a:latin typeface="Calibri"/>
              </a:rPr>
              <a:t>PV-only baseline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45262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38E"/>
                </a:solidFill>
                <a:latin typeface="Consolas"/>
              </a:rPr>
              <a:t>PlantVillage only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4526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EF4444"/>
                </a:solidFill>
                <a:latin typeface="Consolas"/>
              </a:rPr>
              <a:t>~30%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9377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5F5F0"/>
                </a:solidFill>
                <a:latin typeface="Calibri"/>
              </a:rPr>
              <a:t>joint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49377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38E"/>
                </a:solidFill>
                <a:latin typeface="Consolas"/>
              </a:rPr>
              <a:t>PV + PD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4937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F59E0B"/>
                </a:solidFill>
                <a:latin typeface="Consolas"/>
              </a:rPr>
              <a:t>58.33%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3492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5F5F0"/>
                </a:solidFill>
                <a:latin typeface="Calibri"/>
              </a:rPr>
              <a:t>joint_all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5349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38E"/>
                </a:solidFill>
                <a:latin typeface="Consolas"/>
              </a:rPr>
              <a:t>PV + PD + augmented PD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5349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4F8F5F"/>
                </a:solidFill>
                <a:latin typeface="Consolas"/>
              </a:rPr>
              <a:t>73.41%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7607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5F5F0"/>
                </a:solidFill>
                <a:latin typeface="Calibri"/>
              </a:rPr>
              <a:t>joint_all + TTA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0" y="57607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38E"/>
                </a:solidFill>
                <a:latin typeface="Consolas"/>
              </a:rPr>
              <a:t>8-view test-time aug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5760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10B981"/>
                </a:solidFill>
                <a:latin typeface="Consolas"/>
              </a:rPr>
              <a:t>75.40%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A3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A938E"/>
                </a:solidFill>
                <a:latin typeface="Calibri"/>
              </a:rPr>
              <a:t>VERDIS  ·  Crop Disease Detection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5E59"/>
                </a:solidFill>
                <a:latin typeface="Consolas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09  ·  THE WORKING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5F5F0"/>
                </a:solidFill>
                <a:latin typeface="Calibri"/>
              </a:rPr>
              <a:t>A classifier is not a product. This 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8046720" cy="4434840"/>
          </a:xfrm>
          <a:prstGeom prst="roundRect">
            <a:avLst>
              <a:gd name="adj" fmla="val 6000"/>
            </a:avLst>
          </a:prstGeom>
          <a:solidFill>
            <a:srgbClr val="1A211D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584" y="1920239"/>
            <a:ext cx="6656832" cy="4160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778240" y="1783080"/>
            <a:ext cx="2834640" cy="443484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6840" y="196596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F8F5F"/>
                </a:solidFill>
                <a:latin typeface="Calibri"/>
              </a:rPr>
              <a:t>WHAT VERDIS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2286000"/>
            <a:ext cx="246888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1" i="0">
                <a:solidFill>
                  <a:srgbClr val="F5F5F0"/>
                </a:solidFill>
                <a:latin typeface="Calibri"/>
              </a:rPr>
              <a:t>Diagnose
</a:t>
            </a:r>
            <a:r>
              <a:rPr sz="1100" b="0" i="0">
                <a:solidFill>
                  <a:srgbClr val="8A938E"/>
                </a:solidFill>
                <a:latin typeface="Calibri"/>
              </a:rPr>
              <a:t>Drop a leaf · top-5 + confidence.
</a:t>
            </a:r>
            <a:r>
              <a:rPr sz="1250" b="1" i="0">
                <a:solidFill>
                  <a:srgbClr val="F5F5F0"/>
                </a:solidFill>
                <a:latin typeface="Calibri"/>
              </a:rPr>
              <a:t>Treat
</a:t>
            </a:r>
            <a:r>
              <a:rPr sz="1100" b="0" i="0">
                <a:solidFill>
                  <a:srgbClr val="8A938E"/>
                </a:solidFill>
                <a:latin typeface="Calibri"/>
              </a:rPr>
              <a:t>Severity + treatment plan.
</a:t>
            </a:r>
            <a:r>
              <a:rPr sz="1250" b="1" i="0">
                <a:solidFill>
                  <a:srgbClr val="F5F5F0"/>
                </a:solidFill>
                <a:latin typeface="Calibri"/>
              </a:rPr>
              <a:t>Explain
</a:t>
            </a:r>
            <a:r>
              <a:rPr sz="1100" b="0" i="0">
                <a:solidFill>
                  <a:srgbClr val="8A938E"/>
                </a:solidFill>
                <a:latin typeface="Calibri"/>
              </a:rPr>
              <a:t>Live Grad-CAM overlay.
</a:t>
            </a:r>
            <a:r>
              <a:rPr sz="1250" b="1" i="0">
                <a:solidFill>
                  <a:srgbClr val="F5F5F0"/>
                </a:solidFill>
                <a:latin typeface="Calibri"/>
              </a:rPr>
              <a:t>Compare
</a:t>
            </a:r>
            <a:r>
              <a:rPr sz="1100" b="0" i="0">
                <a:solidFill>
                  <a:srgbClr val="8A938E"/>
                </a:solidFill>
                <a:latin typeface="Calibri"/>
              </a:rPr>
              <a:t>ResNet50 vs EfficientNet.
</a:t>
            </a:r>
            <a:r>
              <a:rPr sz="1250" b="1" i="0">
                <a:solidFill>
                  <a:srgbClr val="F5F5F0"/>
                </a:solidFill>
                <a:latin typeface="Calibri"/>
              </a:rPr>
              <a:t>Evaluate
</a:t>
            </a:r>
            <a:r>
              <a:rPr sz="1100" b="0" i="0">
                <a:solidFill>
                  <a:srgbClr val="8A938E"/>
                </a:solidFill>
                <a:latin typeface="Calibri"/>
              </a:rPr>
              <a:t>Confusion matrix + per-class F1.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A3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A938E"/>
                </a:solidFill>
                <a:latin typeface="Calibri"/>
              </a:rPr>
              <a:t>VERDIS  ·  Crop Disease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5E59"/>
                </a:solidFill>
                <a:latin typeface="Consolas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10  ·  THE NON-OBVIOUS 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5F5F0"/>
                </a:solidFill>
                <a:latin typeface="Calibri"/>
              </a:rPr>
              <a:t>Four things we did not expect to be true.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92024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F5F0"/>
                </a:solidFill>
                <a:latin typeface="Calibri"/>
              </a:rPr>
              <a:t>Architecture barely matters.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965960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A938E"/>
                </a:solidFill>
                <a:latin typeface="Calibri"/>
              </a:rPr>
              <a:t>ResNet50 vs EfficientNet-B0 on identical conditions: 58.33% vs 57.14%. Three images on 252.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8036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1089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4F8F5F"/>
                </a:solidFill>
                <a:latin typeface="Consola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01752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F5F0"/>
                </a:solidFill>
                <a:latin typeface="Calibri"/>
              </a:rPr>
              <a:t>Data beats every algorithmic trick.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3063240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A938E"/>
                </a:solidFill>
                <a:latin typeface="Calibri"/>
              </a:rPr>
              <a:t>Augmented PlantDoc alone moved test accuracy from 58% to 73%. Larger than every loss-function tweak combined.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77639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2062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onsola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11480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F5F0"/>
                </a:solidFill>
                <a:latin typeface="Calibri"/>
              </a:rPr>
              <a:t>TTA is free, almost no one uses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160520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A938E"/>
                </a:solidFill>
                <a:latin typeface="Calibri"/>
              </a:rPr>
              <a:t>+2 percentage points with zero retraining. Eight-times inference cost is still 1.4 sec on CPU.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3035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4F8F5F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2120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F5F0"/>
                </a:solidFill>
                <a:latin typeface="Calibri"/>
              </a:rPr>
              <a:t>A 75% classifier is not a product.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5257800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A938E"/>
                </a:solidFill>
                <a:latin typeface="Calibri"/>
              </a:rPr>
              <a:t>Calibrated confidence + top-5 + Grad-CAM turn raw predictions into something a non-expert can trust.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A3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A938E"/>
                </a:solidFill>
                <a:latin typeface="Calibri"/>
              </a:rPr>
              <a:t>VERDIS  ·  Crop Disease Detection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5E59"/>
                </a:solidFill>
                <a:latin typeface="Consolas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11  ·  CONCLUSIONS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5F5F0"/>
                </a:solidFill>
                <a:latin typeface="Calibri"/>
              </a:rPr>
              <a:t>What we learned, what we shipped, what comes next.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611880" cy="292608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9339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F5F0"/>
                </a:solidFill>
                <a:latin typeface="Calibri"/>
              </a:rPr>
              <a:t>Domain shift is the problem.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32004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A938E"/>
                </a:solidFill>
                <a:latin typeface="Calibri"/>
              </a:rPr>
              <a:t>Beating PlantVillage is easy. Beating PlantDoc forced every architectural and training decision in this project. Lab → field is the real research direction.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28800"/>
            <a:ext cx="3611880" cy="292608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99339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F8F5F"/>
                </a:solidFill>
                <a:latin typeface="Consola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3317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F5F0"/>
                </a:solidFill>
                <a:latin typeface="Calibri"/>
              </a:rPr>
              <a:t>Data &gt; clever tricks.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880360"/>
            <a:ext cx="32004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A938E"/>
                </a:solidFill>
                <a:latin typeface="Calibri"/>
              </a:rPr>
              <a:t>Augmented PlantDoc alone gave +15 points. Focal Loss, CutMix and the freeze schedule added smaller but real gains on top.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611880" cy="292608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99339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onsola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3317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F5F0"/>
                </a:solidFill>
                <a:latin typeface="Calibri"/>
              </a:rPr>
              <a:t>A classifier isn't a product.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880360"/>
            <a:ext cx="32004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A938E"/>
                </a:solidFill>
                <a:latin typeface="Calibri"/>
              </a:rPr>
              <a:t>Calibrated confidence + top-5 + Grad-CAM turn raw predictions into decision support a non-expert can actually trust.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937760"/>
            <a:ext cx="11064240" cy="1325880"/>
          </a:xfrm>
          <a:prstGeom prst="roundRect">
            <a:avLst>
              <a:gd name="adj" fmla="val 6000"/>
            </a:avLst>
          </a:prstGeom>
          <a:solidFill>
            <a:srgbClr val="1A211D"/>
          </a:solidFill>
          <a:ln w="9525">
            <a:solidFill>
              <a:srgbClr val="3F6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07492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F8F5F"/>
                </a:solidFill>
                <a:latin typeface="Calibri"/>
              </a:rPr>
              <a:t>FUTURE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49240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 i="0">
                <a:solidFill>
                  <a:srgbClr val="F5F5F0"/>
                </a:solidFill>
                <a:latin typeface="Calibri"/>
              </a:rPr>
              <a:t>More field data</a:t>
            </a:r>
            <a:r>
              <a:rPr sz="1200" b="0" i="0">
                <a:solidFill>
                  <a:srgbClr val="8A938E"/>
                </a:solidFill>
                <a:latin typeface="Calibri"/>
              </a:rPr>
              <a:t> across regions  ·  </a:t>
            </a:r>
            <a:r>
              <a:rPr sz="1250" b="1" i="0">
                <a:solidFill>
                  <a:srgbClr val="F5F5F0"/>
                </a:solidFill>
                <a:latin typeface="Calibri"/>
              </a:rPr>
              <a:t>EfficientNet-B4 / ViT-B/16</a:t>
            </a:r>
            <a:r>
              <a:rPr sz="1200" b="0" i="0">
                <a:solidFill>
                  <a:srgbClr val="8A938E"/>
                </a:solidFill>
                <a:latin typeface="Calibri"/>
              </a:rPr>
              <a:t> to break the 75% ceiling  ·  </a:t>
            </a:r>
            <a:r>
              <a:rPr sz="1250" b="1" i="0">
                <a:solidFill>
                  <a:srgbClr val="F5F5F0"/>
                </a:solidFill>
                <a:latin typeface="Calibri"/>
              </a:rPr>
              <a:t>Open-set rejection</a:t>
            </a:r>
            <a:r>
              <a:rPr sz="1200" b="0" i="0">
                <a:solidFill>
                  <a:srgbClr val="8A938E"/>
                </a:solidFill>
                <a:latin typeface="Calibri"/>
              </a:rPr>
              <a:t> so the model can say "I don't know"  ·  </a:t>
            </a:r>
            <a:r>
              <a:rPr sz="1250" b="1" i="0">
                <a:solidFill>
                  <a:srgbClr val="F5F5F0"/>
                </a:solidFill>
                <a:latin typeface="Calibri"/>
              </a:rPr>
              <a:t>Mobile deployment</a:t>
            </a:r>
            <a:r>
              <a:rPr sz="1200" b="0" i="0">
                <a:solidFill>
                  <a:srgbClr val="8A938E"/>
                </a:solidFill>
                <a:latin typeface="Calibri"/>
              </a:rPr>
              <a:t> via ONNX → Android.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A3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A938E"/>
                </a:solidFill>
                <a:latin typeface="Calibri"/>
              </a:rPr>
              <a:t>VERDIS  ·  Crop Disease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5E59"/>
                </a:solidFill>
                <a:latin typeface="Consolas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